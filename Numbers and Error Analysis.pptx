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73" r:id="rId10"/>
    <p:sldId id="274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8" r:id="rId20"/>
    <p:sldId id="279" r:id="rId21"/>
    <p:sldId id="281" r:id="rId22"/>
    <p:sldId id="277" r:id="rId23"/>
    <p:sldId id="275" r:id="rId24"/>
    <p:sldId id="276" r:id="rId25"/>
    <p:sldId id="27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3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3B99-9311-4CD4-9FE4-550ED1401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906BB-0938-4044-A09E-2D87D7FAA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9A956-FE7B-41DA-9BA4-2D615C9E6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CA18A-917F-4D51-862B-482AF86FC39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81389-5A32-4133-8876-4CF8E648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8841F-4770-4101-A362-650C68A18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8EB1C-7C85-4166-AEA7-26676690E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40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52551-96C7-4A4C-A6A6-4DE257FF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5DC6D-23BB-4934-B583-C7ED9B5F5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302EC-2F40-4550-9673-46A85036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CA18A-917F-4D51-862B-482AF86FC39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6E816-7FAB-4F69-82D9-E3D35D44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90523-1900-4488-BE64-DAC9E1EA6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8EB1C-7C85-4166-AEA7-26676690E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2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46D5-B555-40C6-A50D-429003967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2C2FC-CA25-46C4-9B8D-ABB5C82B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9FF28-C317-48CA-8920-E110FB31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CA18A-917F-4D51-862B-482AF86FC39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3F1C1-2A90-4B02-98B1-4BEE6EC87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8A7C5-8A3B-4EAD-B5AF-F801282E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8EB1C-7C85-4166-AEA7-26676690E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127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35DD-D079-4A75-9A67-795833DA3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ABE23-9E98-4BF4-AC3B-C8ED6282EB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E6127-ED07-49BD-9A7E-264C9072F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343F3-B8BC-408D-95F8-583AD3FF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CA18A-917F-4D51-862B-482AF86FC39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4EC0B-2D22-40A3-9FBA-F33C5CA18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DE069-DB0C-40BD-A517-9BD8DAA2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8EB1C-7C85-4166-AEA7-26676690E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58F6F-DE2B-4173-AFB2-FFD4BCE02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A17F7-4B5A-497D-A0C9-583B931C2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B2D4E-44BA-4DD0-8715-A02F5438B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3002C-A380-463B-92B9-9A6E7B0E2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B19674-0551-47A4-A651-B742C8593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19FB41-0090-4A04-AC3F-06F493F2A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CA18A-917F-4D51-862B-482AF86FC39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276C84-D42F-4B30-A866-3058AD49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103D6-EB97-4E99-8891-04FD0D9F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8EB1C-7C85-4166-AEA7-26676690E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66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A7F6E-5406-4B52-A30E-B70CB15B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BD8401-156B-4B86-A001-DE893D66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CA18A-917F-4D51-862B-482AF86FC39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AE58F-0441-45E7-BC48-5BE85C9B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60EB3-EC38-4CEA-9403-20F83B730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8EB1C-7C85-4166-AEA7-26676690E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1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BF72D-17D5-4AEC-8DD2-A909CE885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CA18A-917F-4D51-862B-482AF86FC39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00DF23-41E4-4117-AEA5-CB5F89023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C1C9C-B400-488E-B334-FCEB20336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8EB1C-7C85-4166-AEA7-26676690E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94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D9C1-315B-46D8-B00E-F3AFCD6FE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88295-CDD1-4AAF-8279-328B36B1C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1C04C-DD79-4841-A928-1C98A02AE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756BC-6502-4EF5-8329-74E2052DC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CA18A-917F-4D51-862B-482AF86FC39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428FB-DC51-4133-8225-3731745EE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5921A-797D-4973-B15F-F46536D4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8EB1C-7C85-4166-AEA7-26676690E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8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A072-9835-470F-B5E8-2CD4EC167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22159-93EE-4328-88F7-ED27D03C0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15917-6F67-45C1-A503-EDAC1FCBD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36A42-9D87-4FA8-A505-D02F9A3E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CA18A-917F-4D51-862B-482AF86FC39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F9836-712F-4407-A2A1-45483D206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9E041-8F3E-41F6-AA5A-F4F721093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8EB1C-7C85-4166-AEA7-26676690E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17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2BEA5-CCF5-47FE-9E0A-FA8A993D0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C9092-19F3-4C62-8151-A0669D975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34504-B301-489B-A957-CEEDFBF3B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CA18A-917F-4D51-862B-482AF86FC39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4AE49-6188-4684-9C37-AFF34E0D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F10FC-CC0C-46BA-B844-3C29CCBA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8EB1C-7C85-4166-AEA7-26676690E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75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18CD1A-59F4-4028-9242-730A40BA7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AD677-0FB9-4245-AEC0-B3F3ECB2D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0ABDC-347E-4A71-9648-D5DFDC2A4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CA18A-917F-4D51-862B-482AF86FC39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E9AF6-499D-4981-BCE1-53677E555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FC910-089C-4866-AE49-3A7C62E40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8EB1C-7C85-4166-AEA7-26676690E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672ADF-89AB-4171-BD78-1D2DA0DF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6A9FC-ECA7-49FB-B4BA-8BAE199F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FEC5D-DEB9-4935-99C3-B31BF82A7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CA18A-917F-4D51-862B-482AF86FC39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2272C-42A2-4F4C-806A-F6ADEEACC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E3A1D-7EB8-4EAD-B340-01843E14F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8EB1C-7C85-4166-AEA7-26676690E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75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5.xml"/><Relationship Id="rId7" Type="http://schemas.openxmlformats.org/officeDocument/2006/relationships/image" Target="../media/image20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1D52D-7661-440A-803C-AD922F8962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Numbers and</a:t>
            </a:r>
            <a:br>
              <a:rPr lang="en-US" dirty="0"/>
            </a:br>
            <a:r>
              <a:rPr lang="en-US" dirty="0"/>
              <a:t>Error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205EB-B815-4783-AEBC-6852C51483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67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9844-C9F0-4419-B37F-6D820FD98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ECDF4B-6777-47E1-AF9A-B47A9DD243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10759"/>
          <a:stretch/>
        </p:blipFill>
        <p:spPr>
          <a:xfrm>
            <a:off x="1047600" y="0"/>
            <a:ext cx="9476964" cy="6726533"/>
          </a:xfr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D03A595-5A15-40EA-A71D-F571499857FE}"/>
              </a:ext>
            </a:extLst>
          </p:cNvPr>
          <p:cNvGrpSpPr/>
          <p:nvPr/>
        </p:nvGrpSpPr>
        <p:grpSpPr>
          <a:xfrm>
            <a:off x="4194363" y="85165"/>
            <a:ext cx="6187996" cy="6541934"/>
            <a:chOff x="4194363" y="85165"/>
            <a:chExt cx="6187996" cy="654193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64493DC-2672-494A-9425-F538E968F78E}"/>
                </a:ext>
              </a:extLst>
            </p:cNvPr>
            <p:cNvSpPr/>
            <p:nvPr/>
          </p:nvSpPr>
          <p:spPr>
            <a:xfrm>
              <a:off x="4194363" y="85165"/>
              <a:ext cx="3676650" cy="345141"/>
            </a:xfrm>
            <a:prstGeom prst="rect">
              <a:avLst/>
            </a:prstGeom>
            <a:solidFill>
              <a:schemeClr val="accent2">
                <a:alpha val="2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E480440-C7B6-4132-8491-24456A4A4CE4}"/>
                </a:ext>
              </a:extLst>
            </p:cNvPr>
            <p:cNvSpPr/>
            <p:nvPr/>
          </p:nvSpPr>
          <p:spPr>
            <a:xfrm>
              <a:off x="5411096" y="2402541"/>
              <a:ext cx="1391323" cy="29762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DE2BE05-5EC9-466E-A047-FDFC88380AC1}"/>
                </a:ext>
              </a:extLst>
            </p:cNvPr>
            <p:cNvSpPr/>
            <p:nvPr/>
          </p:nvSpPr>
          <p:spPr>
            <a:xfrm>
              <a:off x="5708725" y="1906999"/>
              <a:ext cx="742277" cy="26604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17F727E-1245-48DF-8469-9BF85E107BED}"/>
                </a:ext>
              </a:extLst>
            </p:cNvPr>
            <p:cNvSpPr/>
            <p:nvPr/>
          </p:nvSpPr>
          <p:spPr>
            <a:xfrm>
              <a:off x="5613699" y="1393181"/>
              <a:ext cx="934122" cy="28432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259D258-748D-49BB-B165-3F272CABD519}"/>
                </a:ext>
              </a:extLst>
            </p:cNvPr>
            <p:cNvSpPr/>
            <p:nvPr/>
          </p:nvSpPr>
          <p:spPr>
            <a:xfrm>
              <a:off x="5411096" y="3640822"/>
              <a:ext cx="1291708" cy="57883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B1071D4-8BF4-4D3C-9278-AD07CF879BF5}"/>
                </a:ext>
              </a:extLst>
            </p:cNvPr>
            <p:cNvSpPr/>
            <p:nvPr/>
          </p:nvSpPr>
          <p:spPr>
            <a:xfrm>
              <a:off x="5450146" y="4338507"/>
              <a:ext cx="1291708" cy="51871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2ABD3D1-C27B-429E-8356-C289B9463209}"/>
                </a:ext>
              </a:extLst>
            </p:cNvPr>
            <p:cNvSpPr/>
            <p:nvPr/>
          </p:nvSpPr>
          <p:spPr>
            <a:xfrm>
              <a:off x="5510711" y="5118369"/>
              <a:ext cx="1192093" cy="51871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2EA1CF-BA49-4AB0-B45E-DC17397A3C15}"/>
                </a:ext>
              </a:extLst>
            </p:cNvPr>
            <p:cNvSpPr/>
            <p:nvPr/>
          </p:nvSpPr>
          <p:spPr>
            <a:xfrm>
              <a:off x="5510711" y="5771626"/>
              <a:ext cx="1192093" cy="26844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5E65655-D87B-4565-A35F-EECD5CDB18CE}"/>
                </a:ext>
              </a:extLst>
            </p:cNvPr>
            <p:cNvSpPr/>
            <p:nvPr/>
          </p:nvSpPr>
          <p:spPr>
            <a:xfrm>
              <a:off x="5510711" y="6358651"/>
              <a:ext cx="1291708" cy="26844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F2B684-4970-4843-9B02-326C72949995}"/>
                </a:ext>
              </a:extLst>
            </p:cNvPr>
            <p:cNvSpPr/>
            <p:nvPr/>
          </p:nvSpPr>
          <p:spPr>
            <a:xfrm>
              <a:off x="5708725" y="906011"/>
              <a:ext cx="742277" cy="270859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92FFB2A-D74A-4C2E-9BBD-BC1796DEEE35}"/>
                </a:ext>
              </a:extLst>
            </p:cNvPr>
            <p:cNvSpPr/>
            <p:nvPr/>
          </p:nvSpPr>
          <p:spPr>
            <a:xfrm>
              <a:off x="5613699" y="3315840"/>
              <a:ext cx="970877" cy="206136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00A467-59CA-4C17-9313-950FF9DC5255}"/>
                </a:ext>
              </a:extLst>
            </p:cNvPr>
            <p:cNvSpPr/>
            <p:nvPr/>
          </p:nvSpPr>
          <p:spPr>
            <a:xfrm>
              <a:off x="5594424" y="2845160"/>
              <a:ext cx="1070835" cy="206136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F08079-AED8-43D6-925D-15E6B80517BA}"/>
                </a:ext>
              </a:extLst>
            </p:cNvPr>
            <p:cNvSpPr/>
            <p:nvPr/>
          </p:nvSpPr>
          <p:spPr>
            <a:xfrm>
              <a:off x="8362278" y="892476"/>
              <a:ext cx="975052" cy="225705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87205CC-D030-43E6-9431-B9EC6A3F3310}"/>
                </a:ext>
              </a:extLst>
            </p:cNvPr>
            <p:cNvSpPr/>
            <p:nvPr/>
          </p:nvSpPr>
          <p:spPr>
            <a:xfrm>
              <a:off x="7668051" y="1393181"/>
              <a:ext cx="975052" cy="51381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15CCCF4-9F9D-4C63-830E-73E964C59949}"/>
                </a:ext>
              </a:extLst>
            </p:cNvPr>
            <p:cNvSpPr/>
            <p:nvPr/>
          </p:nvSpPr>
          <p:spPr>
            <a:xfrm>
              <a:off x="7778970" y="2011903"/>
              <a:ext cx="742278" cy="20613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45B6953-B196-4BC7-900F-CE5A067504B2}"/>
                </a:ext>
              </a:extLst>
            </p:cNvPr>
            <p:cNvSpPr/>
            <p:nvPr/>
          </p:nvSpPr>
          <p:spPr>
            <a:xfrm>
              <a:off x="9123099" y="1388623"/>
              <a:ext cx="1112956" cy="51381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F5024AC-7149-4F07-8CF7-4E8E3BA639E5}"/>
                </a:ext>
              </a:extLst>
            </p:cNvPr>
            <p:cNvSpPr/>
            <p:nvPr/>
          </p:nvSpPr>
          <p:spPr>
            <a:xfrm>
              <a:off x="9123099" y="2114971"/>
              <a:ext cx="1112956" cy="29762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9E0CED6-B75A-47C1-903F-22FB23063E95}"/>
                </a:ext>
              </a:extLst>
            </p:cNvPr>
            <p:cNvSpPr/>
            <p:nvPr/>
          </p:nvSpPr>
          <p:spPr>
            <a:xfrm>
              <a:off x="7635751" y="2317845"/>
              <a:ext cx="1070836" cy="29762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3C75FF5-F96F-49C0-B292-0B65CC4854E7}"/>
                </a:ext>
              </a:extLst>
            </p:cNvPr>
            <p:cNvSpPr/>
            <p:nvPr/>
          </p:nvSpPr>
          <p:spPr>
            <a:xfrm>
              <a:off x="7635752" y="2734950"/>
              <a:ext cx="1070835" cy="3163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1339251-F058-413E-9108-4D3BDBF21A2B}"/>
                </a:ext>
              </a:extLst>
            </p:cNvPr>
            <p:cNvSpPr/>
            <p:nvPr/>
          </p:nvSpPr>
          <p:spPr>
            <a:xfrm>
              <a:off x="9123099" y="2691319"/>
              <a:ext cx="1112956" cy="51381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5F2FBBF-7F6F-45A9-BC28-67E223014E85}"/>
                </a:ext>
              </a:extLst>
            </p:cNvPr>
            <p:cNvSpPr/>
            <p:nvPr/>
          </p:nvSpPr>
          <p:spPr>
            <a:xfrm>
              <a:off x="7663376" y="3288816"/>
              <a:ext cx="1070835" cy="29762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1E4F260-DFBB-4A6C-A2F1-8D0A4E0A8DEF}"/>
                </a:ext>
              </a:extLst>
            </p:cNvPr>
            <p:cNvSpPr/>
            <p:nvPr/>
          </p:nvSpPr>
          <p:spPr>
            <a:xfrm>
              <a:off x="7635751" y="3857137"/>
              <a:ext cx="1137263" cy="3163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C6EF59A-F4DA-4874-88FD-C566819EB5C4}"/>
                </a:ext>
              </a:extLst>
            </p:cNvPr>
            <p:cNvSpPr/>
            <p:nvPr/>
          </p:nvSpPr>
          <p:spPr>
            <a:xfrm>
              <a:off x="7663376" y="4408667"/>
              <a:ext cx="979727" cy="51871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55B5C53-8246-4CB8-868F-E74ECD1C7B8A}"/>
                </a:ext>
              </a:extLst>
            </p:cNvPr>
            <p:cNvSpPr/>
            <p:nvPr/>
          </p:nvSpPr>
          <p:spPr>
            <a:xfrm>
              <a:off x="7625043" y="4896428"/>
              <a:ext cx="1018060" cy="51871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9A6274-4ADB-4DFA-993D-9ACEF2DC7877}"/>
                </a:ext>
              </a:extLst>
            </p:cNvPr>
            <p:cNvSpPr/>
            <p:nvPr/>
          </p:nvSpPr>
          <p:spPr>
            <a:xfrm>
              <a:off x="9425760" y="4173483"/>
              <a:ext cx="711017" cy="235184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742B323-158F-40E8-BFBA-3FE8C886999C}"/>
                </a:ext>
              </a:extLst>
            </p:cNvPr>
            <p:cNvSpPr/>
            <p:nvPr/>
          </p:nvSpPr>
          <p:spPr>
            <a:xfrm>
              <a:off x="9209116" y="4524974"/>
              <a:ext cx="1173243" cy="19333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3DBC51F-7354-43D1-90F8-D4F87BB5E4D9}"/>
                </a:ext>
              </a:extLst>
            </p:cNvPr>
            <p:cNvSpPr/>
            <p:nvPr/>
          </p:nvSpPr>
          <p:spPr>
            <a:xfrm>
              <a:off x="9148829" y="4927386"/>
              <a:ext cx="1233530" cy="31949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2215D6C-64EC-471E-8B9D-1A0D4AE300D2}"/>
                </a:ext>
              </a:extLst>
            </p:cNvPr>
            <p:cNvSpPr/>
            <p:nvPr/>
          </p:nvSpPr>
          <p:spPr>
            <a:xfrm>
              <a:off x="7500728" y="5502075"/>
              <a:ext cx="1272286" cy="568765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EC40DA5-1FDE-4FF5-A07E-59E4734D7CA2}"/>
                </a:ext>
              </a:extLst>
            </p:cNvPr>
            <p:cNvSpPr/>
            <p:nvPr/>
          </p:nvSpPr>
          <p:spPr>
            <a:xfrm>
              <a:off x="9049947" y="5874339"/>
              <a:ext cx="1026778" cy="51381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8227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90F30-6F1F-4BB0-9F0F-4DCFC8063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</a:t>
            </a:r>
            <a:r>
              <a:rPr lang="en-US" dirty="0" err="1"/>
              <a:t>FlowCharts</a:t>
            </a:r>
            <a:r>
              <a:rPr lang="en-US" dirty="0"/>
              <a:t>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4E05E4-4E37-4CC2-9D43-6869C1F29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51657" y="1825625"/>
            <a:ext cx="7288686" cy="43513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96BFF7-FE17-41F9-AED3-408B4C219BA1}"/>
              </a:ext>
            </a:extLst>
          </p:cNvPr>
          <p:cNvSpPr/>
          <p:nvPr/>
        </p:nvSpPr>
        <p:spPr>
          <a:xfrm>
            <a:off x="5359773" y="1924049"/>
            <a:ext cx="4294093" cy="4252913"/>
          </a:xfrm>
          <a:prstGeom prst="rect">
            <a:avLst/>
          </a:prstGeom>
          <a:solidFill>
            <a:schemeClr val="accent2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2EE85E-1031-47AE-A1B1-30A298FC45DB}"/>
              </a:ext>
            </a:extLst>
          </p:cNvPr>
          <p:cNvSpPr/>
          <p:nvPr/>
        </p:nvSpPr>
        <p:spPr>
          <a:xfrm>
            <a:off x="2538133" y="2085975"/>
            <a:ext cx="2186267" cy="571500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9BBD27-C1D6-45BF-8FE9-3604F32251BE}"/>
              </a:ext>
            </a:extLst>
          </p:cNvPr>
          <p:cNvSpPr/>
          <p:nvPr/>
        </p:nvSpPr>
        <p:spPr>
          <a:xfrm>
            <a:off x="2538133" y="3214687"/>
            <a:ext cx="2186267" cy="571500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39D247-8F0D-4F24-9236-67DC7AAE8DEE}"/>
              </a:ext>
            </a:extLst>
          </p:cNvPr>
          <p:cNvSpPr/>
          <p:nvPr/>
        </p:nvSpPr>
        <p:spPr>
          <a:xfrm>
            <a:off x="2538133" y="4343400"/>
            <a:ext cx="2186267" cy="571500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4EF8D6-9041-472C-9A8B-9726A6C254D4}"/>
              </a:ext>
            </a:extLst>
          </p:cNvPr>
          <p:cNvSpPr/>
          <p:nvPr/>
        </p:nvSpPr>
        <p:spPr>
          <a:xfrm>
            <a:off x="3157259" y="5472113"/>
            <a:ext cx="976592" cy="571500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814248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B806C-53DE-4734-8EEE-0392EF05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numbers (x86 or 32bits)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565F4C-53DC-44C3-A7A8-8563C0F36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61247" y="1825624"/>
            <a:ext cx="9660481" cy="495698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30D0CC-153D-4A5D-8D77-27C41361B309}"/>
              </a:ext>
            </a:extLst>
          </p:cNvPr>
          <p:cNvSpPr/>
          <p:nvPr/>
        </p:nvSpPr>
        <p:spPr>
          <a:xfrm>
            <a:off x="6750424" y="1425388"/>
            <a:ext cx="2268070" cy="3048000"/>
          </a:xfrm>
          <a:prstGeom prst="rect">
            <a:avLst/>
          </a:prstGeom>
          <a:solidFill>
            <a:schemeClr val="accent2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165982-9AF6-45A3-87CA-01D99248080E}"/>
              </a:ext>
            </a:extLst>
          </p:cNvPr>
          <p:cNvSpPr/>
          <p:nvPr/>
        </p:nvSpPr>
        <p:spPr>
          <a:xfrm>
            <a:off x="3585883" y="1425388"/>
            <a:ext cx="2268070" cy="3048000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593222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323BB-87D8-48B5-8A4C-FFAB2A5BE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0B4D3B-B3D9-4CF4-8AF0-98C697EE8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6905" y="355600"/>
            <a:ext cx="11156727" cy="6137275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780829-6722-4C71-A2D3-98A6093E55CA}"/>
              </a:ext>
            </a:extLst>
          </p:cNvPr>
          <p:cNvSpPr/>
          <p:nvPr/>
        </p:nvSpPr>
        <p:spPr>
          <a:xfrm>
            <a:off x="528358" y="1043781"/>
            <a:ext cx="10958792" cy="537369"/>
          </a:xfrm>
          <a:prstGeom prst="rect">
            <a:avLst/>
          </a:prstGeom>
          <a:solidFill>
            <a:schemeClr val="accent2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AE9A5F-27E5-446F-B76F-DDE0905CDEE8}"/>
              </a:ext>
            </a:extLst>
          </p:cNvPr>
          <p:cNvSpPr/>
          <p:nvPr/>
        </p:nvSpPr>
        <p:spPr>
          <a:xfrm>
            <a:off x="528357" y="1581150"/>
            <a:ext cx="10958791" cy="4895850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963416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9B5CC-5A14-42D7-94F5-0BB2506F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5050"/>
          </a:xfrm>
        </p:spPr>
        <p:txBody>
          <a:bodyPr/>
          <a:lstStyle/>
          <a:p>
            <a:r>
              <a:rPr lang="en-US" dirty="0">
                <a:latin typeface="+mn-lt"/>
              </a:rPr>
              <a:t>Errors </a:t>
            </a:r>
            <a:r>
              <a:rPr lang="en-US" dirty="0">
                <a:latin typeface="+mn-lt"/>
                <a:sym typeface="Wingdings" panose="05000000000000000000" pitchFamily="2" charset="2"/>
              </a:rPr>
              <a:t> Types/Classes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7F412-D2DB-47DB-A6D4-338142339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0"/>
            <a:ext cx="10515600" cy="46910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Errors arise in computations due to a variety of reasons…</a:t>
            </a:r>
          </a:p>
          <a:p>
            <a:r>
              <a:rPr lang="en-US" b="1" dirty="0">
                <a:solidFill>
                  <a:srgbClr val="FF0000"/>
                </a:solidFill>
              </a:rPr>
              <a:t>Theory Errors</a:t>
            </a:r>
          </a:p>
          <a:p>
            <a:pPr lvl="1"/>
            <a:r>
              <a:rPr lang="en-US" dirty="0"/>
              <a:t>The underlying theoretical framework may contain errors.</a:t>
            </a:r>
          </a:p>
          <a:p>
            <a:pPr lvl="1"/>
            <a:r>
              <a:rPr lang="en-US" dirty="0"/>
              <a:t>Theory may have inherent divergent behavior which may result in “data out-of-bounds” situations. For example, we need to perform “Renormalization” in Quantum Electrodynamics to tackle the infinite-sum problem.</a:t>
            </a:r>
          </a:p>
          <a:p>
            <a:r>
              <a:rPr lang="en-US" b="1" dirty="0">
                <a:solidFill>
                  <a:srgbClr val="FF0000"/>
                </a:solidFill>
              </a:rPr>
              <a:t>Random Errors</a:t>
            </a:r>
          </a:p>
          <a:p>
            <a:pPr lvl="1"/>
            <a:r>
              <a:rPr lang="en-US" dirty="0"/>
              <a:t>Data storage in computers is subject to random fluctuations in voltages/currents.</a:t>
            </a:r>
          </a:p>
          <a:p>
            <a:pPr lvl="1"/>
            <a:r>
              <a:rPr lang="en-US" dirty="0"/>
              <a:t>The computer circuit boards may pick random noise signals from nearby devices.</a:t>
            </a:r>
          </a:p>
          <a:p>
            <a:pPr lvl="1"/>
            <a:r>
              <a:rPr lang="en-US" dirty="0"/>
              <a:t>While algorithms are in place for self-correction for transmission and storage of data, they do have limits. </a:t>
            </a:r>
          </a:p>
        </p:txBody>
      </p:sp>
    </p:spTree>
    <p:extLst>
      <p:ext uri="{BB962C8B-B14F-4D97-AF65-F5344CB8AC3E}">
        <p14:creationId xmlns:p14="http://schemas.microsoft.com/office/powerpoint/2010/main" val="3522065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B978-332B-4E36-B5E6-A36BA49A8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DF92E-5FE1-42F4-8F76-89F6A9893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4719638"/>
          </a:xfrm>
        </p:spPr>
        <p:txBody>
          <a:bodyPr/>
          <a:lstStyle/>
          <a:p>
            <a:pPr marL="0" indent="0" algn="l" fontAlgn="base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inherit"/>
              </a:rPr>
              <a:t>Modelling Errors</a:t>
            </a:r>
            <a:endParaRPr lang="en-US" b="1" i="0" dirty="0">
              <a:solidFill>
                <a:srgbClr val="FF0000"/>
              </a:solidFill>
              <a:effectLst/>
              <a:latin typeface="helvetica neue"/>
            </a:endParaRPr>
          </a:p>
          <a:p>
            <a:pPr algn="l" fontAlgn="base"/>
            <a:r>
              <a:rPr lang="en-US" b="0" i="0" dirty="0">
                <a:effectLst/>
                <a:latin typeface="inherit"/>
              </a:rPr>
              <a:t>A mathematical model is built to represent a physical process or a phenomenon. When a mathematical model being formulated is not exact/accurate when compared to the underlying physical process, errors can occur in the resulting solution.</a:t>
            </a:r>
            <a:endParaRPr lang="en-US" b="0" i="0" dirty="0">
              <a:effectLst/>
              <a:latin typeface="Verdana" panose="020B0604030504040204" pitchFamily="34" charset="0"/>
            </a:endParaRPr>
          </a:p>
          <a:p>
            <a:pPr algn="l" fontAlgn="base"/>
            <a:r>
              <a:rPr lang="en-US" b="0" i="0" dirty="0">
                <a:effectLst/>
                <a:latin typeface="inherit"/>
              </a:rPr>
              <a:t>Models often require many simplifying assumptions. The physical process being modelled may be overly complex in some cases. In such situations, it will be impossible/impractical to create an exact mathematical model. Hence, the resultant model may be a simplified version of the underlying physical process.</a:t>
            </a:r>
            <a:endParaRPr lang="en-US" b="0" i="0" dirty="0"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620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1635-BDDA-4160-A4DC-20E00DFEA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Errors (continued…)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EB374-13F2-447C-8BDF-E0E2B9D30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fontAlgn="base">
              <a:buNone/>
            </a:pPr>
            <a:r>
              <a:rPr lang="en-US" b="0" i="0" dirty="0">
                <a:solidFill>
                  <a:srgbClr val="00B050"/>
                </a:solidFill>
                <a:effectLst/>
                <a:latin typeface="inherit"/>
              </a:rPr>
              <a:t>Some example</a:t>
            </a:r>
            <a:r>
              <a:rPr lang="en-US" b="0" i="0" dirty="0">
                <a:effectLst/>
                <a:latin typeface="inherit"/>
              </a:rPr>
              <a:t>s of model simplification, resulting in errors:</a:t>
            </a:r>
            <a:endParaRPr lang="en-US" b="0" i="0" dirty="0">
              <a:effectLst/>
              <a:latin typeface="Verdana" panose="020B0604030504040204" pitchFamily="34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While calculating the force acting on a </a:t>
            </a:r>
            <a:r>
              <a:rPr lang="en-US" b="1" i="1" dirty="0">
                <a:solidFill>
                  <a:srgbClr val="0070C0"/>
                </a:solidFill>
                <a:effectLst/>
                <a:latin typeface="inherit"/>
              </a:rPr>
              <a:t>freely falling body</a:t>
            </a:r>
            <a:r>
              <a:rPr lang="en-US" b="0" i="0" dirty="0">
                <a:effectLst/>
                <a:latin typeface="inherit"/>
              </a:rPr>
              <a:t>, we may assume that the drag coefficient (air resistance) is linearly proportional to velocity of the falling body. This simplification will have its impact on the accuracy of the result.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While evaluating </a:t>
            </a:r>
            <a:r>
              <a:rPr lang="en-US" b="1" i="1" dirty="0">
                <a:solidFill>
                  <a:srgbClr val="FF0000"/>
                </a:solidFill>
                <a:effectLst/>
                <a:latin typeface="inherit"/>
              </a:rPr>
              <a:t>disease control programs</a:t>
            </a:r>
            <a:r>
              <a:rPr lang="en-US" b="0" i="0" dirty="0">
                <a:effectLst/>
                <a:latin typeface="inherit"/>
              </a:rPr>
              <a:t>, mainly epidemiological factors are included in the model, while others like social factors may be left out to make the model less complex.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055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1B4E6-76D4-4F11-BB25-EA3FFD99F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herit"/>
              </a:rPr>
              <a:t>Inherent Errors / Input Errors</a:t>
            </a:r>
            <a:r>
              <a:rPr lang="en-US" b="1" i="0" dirty="0">
                <a:effectLst/>
                <a:latin typeface="helvetica neue"/>
              </a:rPr>
              <a:t/>
            </a:r>
            <a:br>
              <a:rPr lang="en-US" b="1" i="0" dirty="0">
                <a:effectLst/>
                <a:latin typeface="helvetica neue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76244-3099-4213-84FB-2919DAF30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675"/>
            <a:ext cx="10515600" cy="4967288"/>
          </a:xfrm>
        </p:spPr>
        <p:txBody>
          <a:bodyPr>
            <a:normAutofit lnSpcReduction="10000"/>
          </a:bodyPr>
          <a:lstStyle/>
          <a:p>
            <a:pPr marL="0" indent="0" algn="l" fontAlgn="base">
              <a:buNone/>
            </a:pPr>
            <a:r>
              <a:rPr lang="en-US" b="0" i="0" dirty="0">
                <a:effectLst/>
                <a:latin typeface="inherit"/>
              </a:rPr>
              <a:t>Errors that are present in the data that are input to the model are inherent errors. They are also called input errors. They are classified into two – Data Errors and Conversion Errors.</a:t>
            </a:r>
            <a:endParaRPr lang="en-US" b="0" i="0" dirty="0"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r>
              <a:rPr lang="en-US" b="1" i="0" u="sng" dirty="0">
                <a:solidFill>
                  <a:srgbClr val="FF0000"/>
                </a:solidFill>
                <a:effectLst/>
                <a:latin typeface="inherit"/>
              </a:rPr>
              <a:t>Data Errors</a:t>
            </a:r>
            <a:endParaRPr lang="en-US" b="1" i="0" u="sng" dirty="0">
              <a:solidFill>
                <a:srgbClr val="FF0000"/>
              </a:solidFill>
              <a:effectLst/>
              <a:latin typeface="helvetica neue"/>
            </a:endParaRPr>
          </a:p>
          <a:p>
            <a:pPr algn="l" fontAlgn="base"/>
            <a:r>
              <a:rPr lang="en-US" b="0" i="0" dirty="0">
                <a:effectLst/>
                <a:latin typeface="inherit"/>
              </a:rPr>
              <a:t>Data errors arise when data to be input into a model are acquired using experimental methods. </a:t>
            </a:r>
          </a:p>
          <a:p>
            <a:pPr algn="l" fontAlgn="base"/>
            <a:r>
              <a:rPr lang="en-US" b="0" i="0" dirty="0">
                <a:effectLst/>
                <a:latin typeface="inherit"/>
              </a:rPr>
              <a:t>These are also called </a:t>
            </a:r>
            <a:r>
              <a:rPr lang="en-US" b="1" i="1" dirty="0">
                <a:effectLst/>
                <a:latin typeface="inherit"/>
              </a:rPr>
              <a:t>empirical errors</a:t>
            </a:r>
            <a:r>
              <a:rPr lang="en-US" b="0" i="0" dirty="0">
                <a:effectLst/>
                <a:latin typeface="inherit"/>
              </a:rPr>
              <a:t>. Such errors occur mostly due to the limitations or errors in the instrumentation. </a:t>
            </a:r>
          </a:p>
          <a:p>
            <a:pPr algn="l" fontAlgn="base"/>
            <a:r>
              <a:rPr lang="en-US" b="0" i="0" dirty="0">
                <a:effectLst/>
                <a:latin typeface="inherit"/>
              </a:rPr>
              <a:t>A voltage reading can be accurate only </a:t>
            </a:r>
            <a:r>
              <a:rPr lang="en-US" b="0" i="0" dirty="0" err="1">
                <a:effectLst/>
                <a:latin typeface="inherit"/>
              </a:rPr>
              <a:t>upto</a:t>
            </a:r>
            <a:r>
              <a:rPr lang="en-US" b="0" i="0" dirty="0">
                <a:effectLst/>
                <a:latin typeface="inherit"/>
              </a:rPr>
              <a:t> the accuracy of the voltmeter. Similarly, the accuracy of distance measurement is limited by the accuracy of the instrument used to measure distance.</a:t>
            </a:r>
            <a:endParaRPr lang="en-US" b="0" i="0" dirty="0">
              <a:effectLst/>
              <a:latin typeface="Verdan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938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A1132-E0CA-4351-8DEC-47F16107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herit"/>
              </a:rPr>
              <a:t>Conversion Errors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5CF4A-FAF4-4F14-AF5E-19C6DFDFF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effectLst/>
                <a:latin typeface="inherit"/>
              </a:rPr>
              <a:t>Conversion errors arise due to the limitation of computers to store exact decimal data. </a:t>
            </a:r>
          </a:p>
          <a:p>
            <a:pPr algn="l" fontAlgn="base"/>
            <a:r>
              <a:rPr lang="en-US" b="0" i="0" dirty="0">
                <a:effectLst/>
                <a:latin typeface="inherit"/>
              </a:rPr>
              <a:t>Hence, these are called </a:t>
            </a:r>
            <a:r>
              <a:rPr lang="en-US" b="0" i="1" dirty="0">
                <a:solidFill>
                  <a:srgbClr val="FF0000"/>
                </a:solidFill>
                <a:effectLst/>
                <a:latin typeface="inherit"/>
              </a:rPr>
              <a:t>representational errors</a:t>
            </a:r>
            <a:r>
              <a:rPr lang="en-US" b="0" i="0" dirty="0">
                <a:effectLst/>
                <a:latin typeface="inherit"/>
              </a:rPr>
              <a:t>. In a floating point representation, a computer can only retain a limited number of digits.</a:t>
            </a:r>
          </a:p>
          <a:p>
            <a:pPr algn="l" fontAlgn="base"/>
            <a:r>
              <a:rPr lang="en-US" b="0" i="0" dirty="0">
                <a:effectLst/>
                <a:latin typeface="inherit"/>
              </a:rPr>
              <a:t> Digits that are not retained causes a </a:t>
            </a:r>
            <a:r>
              <a:rPr lang="en-US" b="0" i="1" dirty="0">
                <a:solidFill>
                  <a:srgbClr val="FF0000"/>
                </a:solidFill>
                <a:effectLst/>
                <a:latin typeface="inherit"/>
              </a:rPr>
              <a:t>round-off error</a:t>
            </a:r>
            <a:r>
              <a:rPr lang="en-US" b="0" i="0" dirty="0">
                <a:effectLst/>
                <a:latin typeface="inherit"/>
              </a:rPr>
              <a:t>.</a:t>
            </a:r>
            <a:endParaRPr lang="en-US" b="0" i="0" dirty="0">
              <a:effectLst/>
              <a:latin typeface="Verdana" panose="020B0604030504040204" pitchFamily="34" charset="0"/>
            </a:endParaRPr>
          </a:p>
          <a:p>
            <a:pPr algn="l" fontAlgn="base"/>
            <a:r>
              <a:rPr lang="en-US" b="0" i="0" dirty="0">
                <a:effectLst/>
                <a:latin typeface="inherit"/>
              </a:rPr>
              <a:t>When a floating point number is converted into its binary form, many numbers cannot be represented in its exact form.</a:t>
            </a:r>
            <a:endParaRPr lang="en-US" b="0" i="0" dirty="0"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310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32AFC-4692-42F0-8827-020E15205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ABB46-592A-4EF4-B86E-493301FB1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515600" cy="4710113"/>
          </a:xfrm>
        </p:spPr>
        <p:txBody>
          <a:bodyPr/>
          <a:lstStyle/>
          <a:p>
            <a:r>
              <a:rPr lang="en-US" dirty="0"/>
              <a:t>Approximation Errors</a:t>
            </a:r>
          </a:p>
          <a:p>
            <a:pPr lvl="1"/>
            <a:r>
              <a:rPr lang="en-US" sz="2000" b="0" i="0" u="none" strike="noStrike" baseline="0" dirty="0">
                <a:latin typeface="Palatino-Roman"/>
              </a:rPr>
              <a:t>imprecision arising from simplifying the mathematics so that a problem can be solved on the computer. </a:t>
            </a:r>
          </a:p>
          <a:p>
            <a:pPr lvl="1"/>
            <a:r>
              <a:rPr lang="en-US" sz="2000" b="0" i="0" u="none" strike="noStrike" baseline="0" dirty="0">
                <a:latin typeface="Palatino-Roman"/>
              </a:rPr>
              <a:t>They include the replacement of infinite series by finite sums, infinitesimal intervals by finite ones, and variable functions by constants. For example,</a:t>
            </a:r>
            <a:endParaRPr lang="en-US" sz="2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98683-5FAB-46DA-AFE3-018F0575B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4522" y="3429000"/>
            <a:ext cx="9082955" cy="244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11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CF87-471D-46F5-9A23-CF253DBF5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/>
          <a:lstStyle/>
          <a:p>
            <a:r>
              <a:rPr lang="en-US" dirty="0"/>
              <a:t>Continued…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B125D-384D-407C-B6ED-2C31DEBB7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0"/>
            <a:ext cx="10810875" cy="4823619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1" i="0" u="none" strike="noStrike" baseline="0" dirty="0">
                <a:latin typeface="Palatino-Bold"/>
              </a:rPr>
              <a:t>Round-off errors: </a:t>
            </a:r>
          </a:p>
          <a:p>
            <a:r>
              <a:rPr lang="en-US" sz="2400" b="0" i="0" u="none" strike="noStrike" baseline="0" dirty="0">
                <a:latin typeface="Palatino-Roman"/>
              </a:rPr>
              <a:t>imprecision arising from the finite number of digits used </a:t>
            </a:r>
            <a:r>
              <a:rPr lang="en-US" sz="2400" b="0" i="0" u="none" strike="noStrike" baseline="0" dirty="0" err="1">
                <a:latin typeface="Palatino-Roman"/>
              </a:rPr>
              <a:t>tostore</a:t>
            </a:r>
            <a:r>
              <a:rPr lang="en-US" sz="2400" b="0" i="0" u="none" strike="noStrike" baseline="0" dirty="0">
                <a:latin typeface="Palatino-Roman"/>
              </a:rPr>
              <a:t> floating-point numbers. </a:t>
            </a:r>
          </a:p>
          <a:p>
            <a:r>
              <a:rPr lang="en-US" sz="2400" b="0" i="0" u="none" strike="noStrike" baseline="0" dirty="0">
                <a:latin typeface="Palatino-Roman"/>
              </a:rPr>
              <a:t>These “errors” are analogous to the uncertainty in the measurement of a physical quantity encountered in an elementary physics laboratory. </a:t>
            </a:r>
          </a:p>
          <a:p>
            <a:r>
              <a:rPr lang="en-US" sz="2400" b="0" i="0" u="none" strike="noStrike" baseline="0" dirty="0">
                <a:latin typeface="Palatino-Roman"/>
              </a:rPr>
              <a:t>The overall round-off error accumulates as the computer handles more numbers, that is, as the number of steps in a computation increases, and may cause some algorithms to become </a:t>
            </a:r>
            <a:r>
              <a:rPr lang="en-US" sz="2400" b="0" i="1" u="none" strike="noStrike" baseline="0" dirty="0">
                <a:latin typeface="Palatino-Italic"/>
              </a:rPr>
              <a:t>unstable </a:t>
            </a:r>
            <a:r>
              <a:rPr lang="en-US" sz="2400" b="0" i="0" u="none" strike="noStrike" baseline="0" dirty="0">
                <a:latin typeface="Palatino-Roman"/>
              </a:rPr>
              <a:t>with a rapid increase in error. </a:t>
            </a:r>
          </a:p>
          <a:p>
            <a:r>
              <a:rPr lang="en-US" sz="2400" b="0" i="0" u="none" strike="noStrike" baseline="0" dirty="0">
                <a:latin typeface="Palatino-Roman"/>
              </a:rPr>
              <a:t>In some cases, round-off error may become the major component in your answer, leading to what computer experts call </a:t>
            </a:r>
            <a:r>
              <a:rPr lang="en-US" sz="2400" b="0" i="1" u="none" strike="noStrike" baseline="0" dirty="0">
                <a:latin typeface="Palatino-Italic"/>
              </a:rPr>
              <a:t>garbage</a:t>
            </a:r>
            <a:r>
              <a:rPr lang="en-US" sz="2400" b="0" i="0" u="none" strike="noStrike" baseline="0" dirty="0">
                <a:latin typeface="Palatino-Roman"/>
              </a:rPr>
              <a:t>.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3E934-097A-4885-9AB1-BAB1F17A5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55515" y="5601835"/>
            <a:ext cx="54864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98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9FE2-EF91-4F59-9AF0-5A8D211B5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6000"/>
          </a:xfrm>
        </p:spPr>
        <p:txBody>
          <a:bodyPr>
            <a:normAutofit/>
          </a:bodyPr>
          <a:lstStyle/>
          <a:p>
            <a:r>
              <a:rPr lang="en-US" sz="3600" b="0" i="0" u="none" strike="noStrike" baseline="0" dirty="0">
                <a:latin typeface="AvantGarde-Book"/>
              </a:rPr>
              <a:t>Round-off Error in a Single Step</a:t>
            </a:r>
            <a:endParaRPr lang="en-US" sz="7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4DB3B4-4E0F-4F8E-978E-AED55CA76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2437" y="1381126"/>
            <a:ext cx="11168063" cy="4747216"/>
          </a:xfrm>
        </p:spPr>
      </p:pic>
    </p:spTree>
    <p:extLst>
      <p:ext uri="{BB962C8B-B14F-4D97-AF65-F5344CB8AC3E}">
        <p14:creationId xmlns:p14="http://schemas.microsoft.com/office/powerpoint/2010/main" val="2597135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6195-3D67-4B85-A37C-2B2EDF51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5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Continued…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C989E8-371A-41BC-9F6B-1712D9359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7979" y="1000126"/>
            <a:ext cx="10856042" cy="5703846"/>
          </a:xfrm>
        </p:spPr>
      </p:pic>
    </p:spTree>
    <p:extLst>
      <p:ext uri="{BB962C8B-B14F-4D97-AF65-F5344CB8AC3E}">
        <p14:creationId xmlns:p14="http://schemas.microsoft.com/office/powerpoint/2010/main" val="93656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3CA8-A4DD-4B33-9656-72A9221D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Algorithmic Error after ‘N’-Iterations </a:t>
            </a:r>
            <a:br>
              <a:rPr lang="en-US" dirty="0"/>
            </a:br>
            <a:r>
              <a:rPr lang="en-US" sz="3600" dirty="0"/>
              <a:t>(Typical Behavior)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5E22B1-8527-44FF-9703-C83460DE5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9317" y="1943893"/>
            <a:ext cx="11353365" cy="3456781"/>
          </a:xfrm>
        </p:spPr>
      </p:pic>
    </p:spTree>
    <p:extLst>
      <p:ext uri="{BB962C8B-B14F-4D97-AF65-F5344CB8AC3E}">
        <p14:creationId xmlns:p14="http://schemas.microsoft.com/office/powerpoint/2010/main" val="2550917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7FF33-19F1-489D-8C1C-D58E8223C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Round-off Errors</a:t>
            </a:r>
            <a:br>
              <a:rPr lang="en-US" dirty="0"/>
            </a:br>
            <a:r>
              <a:rPr lang="en-US" sz="3600" dirty="0"/>
              <a:t>(Typical Behavior)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A2D3FA-1899-480E-BB2B-A5E4273DD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1939131"/>
            <a:ext cx="11141746" cy="2928144"/>
          </a:xfrm>
        </p:spPr>
      </p:pic>
    </p:spTree>
    <p:extLst>
      <p:ext uri="{BB962C8B-B14F-4D97-AF65-F5344CB8AC3E}">
        <p14:creationId xmlns:p14="http://schemas.microsoft.com/office/powerpoint/2010/main" val="505507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CC0BF-2D7C-47E9-94C4-EB51FD09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0750"/>
          </a:xfrm>
        </p:spPr>
        <p:txBody>
          <a:bodyPr/>
          <a:lstStyle/>
          <a:p>
            <a:r>
              <a:rPr lang="en-US" dirty="0"/>
              <a:t>Total Error: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F96351-19B8-4D01-9474-5AC1DD4DD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7662" y="1538287"/>
            <a:ext cx="11507773" cy="4338638"/>
          </a:xfrm>
        </p:spPr>
      </p:pic>
    </p:spTree>
    <p:extLst>
      <p:ext uri="{BB962C8B-B14F-4D97-AF65-F5344CB8AC3E}">
        <p14:creationId xmlns:p14="http://schemas.microsoft.com/office/powerpoint/2010/main" val="355231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E0B6-D3FC-4037-8731-CFA2D5046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Error (typical case study)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E26BA3-5BA0-4040-82EB-0F4D5CFDFF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90637" y="1415256"/>
            <a:ext cx="9605963" cy="5205895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2DF5FCA-F754-497D-92B6-4DFA29B61ED9}"/>
              </a:ext>
            </a:extLst>
          </p:cNvPr>
          <p:cNvSpPr/>
          <p:nvPr/>
        </p:nvSpPr>
        <p:spPr>
          <a:xfrm>
            <a:off x="2571750" y="1581151"/>
            <a:ext cx="7905750" cy="4210050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72937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62E4-1A12-42F7-8AC7-FEED4F55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62FDDC-BDAB-437F-95D4-2AF0A956FB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us assume that we have some equation: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as solution. </a:t>
                </a:r>
              </a:p>
              <a:p>
                <a:r>
                  <a:rPr lang="en-US" dirty="0"/>
                  <a:t>We develop some numerical method for estimation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let us say that at some stage of iterations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), a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is found.</a:t>
                </a:r>
              </a:p>
              <a:p>
                <a:r>
                  <a:rPr lang="en-US" dirty="0"/>
                  <a:t>Clearly, during iterations, it will not satisfy the above equation. So, we will have </a:t>
                </a:r>
                <a:r>
                  <a:rPr lang="en-US" i="1" dirty="0">
                    <a:solidFill>
                      <a:srgbClr val="FF0000"/>
                    </a:solidFill>
                  </a:rPr>
                  <a:t>residual error </a:t>
                </a:r>
                <a:r>
                  <a:rPr lang="en-US" dirty="0"/>
                  <a:t>for that iteration: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As we approach the exact solution, the Residual Error will decrease.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62FDDC-BDAB-437F-95D4-2AF0A956FB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AF96D6-A663-442A-8CAD-CBAADF6D04BA}"/>
              </a:ext>
            </a:extLst>
          </p:cNvPr>
          <p:cNvSpPr/>
          <p:nvPr/>
        </p:nvSpPr>
        <p:spPr>
          <a:xfrm>
            <a:off x="7566213" y="1825625"/>
            <a:ext cx="1658469" cy="433481"/>
          </a:xfrm>
          <a:prstGeom prst="roundRect">
            <a:avLst/>
          </a:prstGeom>
          <a:solidFill>
            <a:srgbClr val="F83110">
              <a:alpha val="2117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5247BF-009F-4D6F-8EC5-979BA72E66F8}"/>
              </a:ext>
            </a:extLst>
          </p:cNvPr>
          <p:cNvSpPr/>
          <p:nvPr/>
        </p:nvSpPr>
        <p:spPr>
          <a:xfrm>
            <a:off x="7144870" y="4025434"/>
            <a:ext cx="2079812" cy="433481"/>
          </a:xfrm>
          <a:prstGeom prst="roundRect">
            <a:avLst/>
          </a:prstGeom>
          <a:solidFill>
            <a:srgbClr val="F83110">
              <a:alpha val="2117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6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4F963-472D-4CF9-AF6E-D13E8680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Convergence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4175AB-0F5C-4CC7-B058-EDCBCB79A1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5035"/>
                <a:ext cx="10515600" cy="4661928"/>
              </a:xfrm>
            </p:spPr>
            <p:txBody>
              <a:bodyPr/>
              <a:lstStyle/>
              <a:p>
                <a:r>
                  <a:rPr lang="en-US" dirty="0"/>
                  <a:t>A sequence (of approximate solutions) is said to converge with order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dirty="0"/>
                  <a:t> if: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We have: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4175AB-0F5C-4CC7-B058-EDCBCB79A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5035"/>
                <a:ext cx="10515600" cy="4661928"/>
              </a:xfrm>
              <a:blipFill>
                <a:blip r:embed="rId4"/>
                <a:stretch>
                  <a:fillRect l="-1043" t="-2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\documentclass{article}&#10;\usepackage{amsmath,amsfonts,amssymb,xcolor,mathptmx}&#10;\usepackage{times}&#10;\usepackage{mathptmx}&#10;\pagestyle{empty}&#10;\begin{document}&#10;for some constant $M &gt; 0$&#10;\end{document}" title="IguanaTex Bitmap Display">
            <a:extLst>
              <a:ext uri="{FF2B5EF4-FFF2-40B4-BE49-F238E27FC236}">
                <a16:creationId xmlns:a16="http://schemas.microsoft.com/office/drawing/2014/main" id="{CCF3EDBF-8FDF-4287-8F40-76B41563D50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412" y="2711958"/>
            <a:ext cx="3512320" cy="2572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2">
                <a:extLst>
                  <a:ext uri="{FF2B5EF4-FFF2-40B4-BE49-F238E27FC236}">
                    <a16:creationId xmlns:a16="http://schemas.microsoft.com/office/drawing/2014/main" id="{2076E7D6-E676-455B-ADB7-80251ED5D7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645573"/>
                  </p:ext>
                </p:extLst>
              </p:nvPr>
            </p:nvGraphicFramePr>
            <p:xfrm>
              <a:off x="1922014" y="4119148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409184481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1081921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Value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Order of Convergence label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3551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Linear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42604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Quadratic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78985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Cubic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62175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2">
                <a:extLst>
                  <a:ext uri="{FF2B5EF4-FFF2-40B4-BE49-F238E27FC236}">
                    <a16:creationId xmlns:a16="http://schemas.microsoft.com/office/drawing/2014/main" id="{2076E7D6-E676-455B-ADB7-80251ED5D7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645573"/>
                  </p:ext>
                </p:extLst>
              </p:nvPr>
            </p:nvGraphicFramePr>
            <p:xfrm>
              <a:off x="1922014" y="4119148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409184481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1081921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50" t="-8197" r="-100600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Order of Convergence label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3551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50" t="-106452" r="-100600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Linear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42604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50" t="-209836" r="-1006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Quadratic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78985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50" t="-309836" r="-1006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Cubic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62175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D7BFC5-F36F-46FB-8601-D64686D30A6C}"/>
              </a:ext>
            </a:extLst>
          </p:cNvPr>
          <p:cNvSpPr/>
          <p:nvPr/>
        </p:nvSpPr>
        <p:spPr>
          <a:xfrm>
            <a:off x="2298844" y="2390661"/>
            <a:ext cx="3437674" cy="1018863"/>
          </a:xfrm>
          <a:prstGeom prst="roundRect">
            <a:avLst/>
          </a:prstGeom>
          <a:solidFill>
            <a:srgbClr val="F83110">
              <a:alpha val="2117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\documentclass{article}&#10;\usepackage{amsmath,amsfonts,amssymb,xcolor,mathptmx}&#10;\usepackage{times}&#10;\usepackage{mathptmx}&#10;\pagestyle{empty}&#10;\begin{document}&#10;$$&#10;\lim_{n \rightarrow \infty} \frac{|x_{n+1}-x_0|}{|x_n-x_0|^q} &lt; M&#10;$$&#10;\end{document}" title="IguanaTex Bitmap Display">
            <a:extLst>
              <a:ext uri="{FF2B5EF4-FFF2-40B4-BE49-F238E27FC236}">
                <a16:creationId xmlns:a16="http://schemas.microsoft.com/office/drawing/2014/main" id="{B53E7540-1CFA-4372-BCDC-54217414B16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140" y="2477150"/>
            <a:ext cx="3027082" cy="85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91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2C91F1-621E-43F6-8DFC-58350EF48DD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Practical method for estimation of ‘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2C91F1-621E-43F6-8DFC-58350EF48D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80CDB-016A-476A-ACF9-BB2117CDF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practice, the following relation is used for estimation of ‘order-of-convergence’: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\documentclass{article}&#10;\usepackage{amsmath,amsfonts,amssymb,xcolor,mathptmx}&#10;\usepackage{times}&#10;\usepackage{mathptmx}&#10;\pagestyle{empty}&#10;\begin{document}&#10;$$&#10;q = \lim_{n \rightarrow \infty} \left[ \frac{\mu_{n+1}}{\mu_{n}} \right]&#10;$$&#10;\end{document}" title="IguanaTex Bitmap Display">
            <a:extLst>
              <a:ext uri="{FF2B5EF4-FFF2-40B4-BE49-F238E27FC236}">
                <a16:creationId xmlns:a16="http://schemas.microsoft.com/office/drawing/2014/main" id="{48E3B320-DEB1-4BFF-A8F2-59F8B0A9DEA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377" y="2683436"/>
            <a:ext cx="2287360" cy="849920"/>
          </a:xfrm>
          <a:prstGeom prst="rect">
            <a:avLst/>
          </a:prstGeom>
        </p:spPr>
      </p:pic>
      <p:pic>
        <p:nvPicPr>
          <p:cNvPr id="15" name="Picture 14" descr="\documentclass{article}&#10;\usepackage{amsmath,amsfonts,amssymb,xcolor,mathptmx}&#10;\usepackage{times}&#10;\usepackage{mathptmx}&#10;\pagestyle{empty}&#10;\begin{document}&#10;and&#10;$&#10;\mu_n = \log \left\{ |&#10;\frac{x_n-x_{n-1}}{x_{n-1}-x_{n-2}}&#10;| \right\}&#10;$&#10;&#10;\end{document}" title="IguanaTex Bitmap Display">
            <a:extLst>
              <a:ext uri="{FF2B5EF4-FFF2-40B4-BE49-F238E27FC236}">
                <a16:creationId xmlns:a16="http://schemas.microsoft.com/office/drawing/2014/main" id="{3F9742C9-BD49-4EC0-84A6-50218248D59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355" y="4205642"/>
            <a:ext cx="3799746" cy="635204"/>
          </a:xfrm>
          <a:prstGeom prst="rect">
            <a:avLst/>
          </a:prstGeom>
        </p:spPr>
      </p:pic>
      <p:pic>
        <p:nvPicPr>
          <p:cNvPr id="19" name="Picture 18" descr="\documentclass{article}&#10;\usepackage{amsmath,amsfonts,amssymb,xcolor,mathptmx}&#10;\usepackage{times}&#10;\usepackage{mathptmx}&#10;\pagestyle{empty}&#10;\begin{document}&#10;with &#10;$&#10;\mu_{n+1} = \log \left\{ |&#10;\frac{x_{n+1}-x_n}{x_n-x_{n-1}}&#10;| \right\}&#10;$&#10;&#10;\end{document}" title="IguanaTex Bitmap Display">
            <a:extLst>
              <a:ext uri="{FF2B5EF4-FFF2-40B4-BE49-F238E27FC236}">
                <a16:creationId xmlns:a16="http://schemas.microsoft.com/office/drawing/2014/main" id="{43D71E61-1202-4CE0-A4A0-B80056E55B2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976" y="4205642"/>
            <a:ext cx="4147670" cy="66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07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55B5-8F2D-4B19-9AA8-CCE2CB51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 Classification of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9BA60D-A8A4-4686-BADC-61CE45DF27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Absolute/True Error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:</a:t>
                </a:r>
              </a:p>
              <a:p>
                <a:r>
                  <a:rPr lang="en-US" dirty="0"/>
                  <a:t>This is difference between the computed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the true/exact/refence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value: </a:t>
                </a: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Relative Error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:</a:t>
                </a:r>
              </a:p>
              <a:p>
                <a:r>
                  <a:rPr lang="en-US" dirty="0"/>
                  <a:t>This is ratio of absolute/true error to the computed value: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9BA60D-A8A4-4686-BADC-61CE45DF27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714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54056-6C09-4878-A11F-CC8A48EEE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399"/>
          </a:xfrm>
        </p:spPr>
        <p:txBody>
          <a:bodyPr>
            <a:normAutofit/>
          </a:bodyPr>
          <a:lstStyle/>
          <a:p>
            <a:r>
              <a:rPr lang="en-US" b="1" i="0" dirty="0">
                <a:effectLst/>
              </a:rPr>
              <a:t>Human Errors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D65A2-7B2D-44F2-943F-2AD9D657E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524"/>
            <a:ext cx="10515600" cy="5419725"/>
          </a:xfrm>
        </p:spPr>
        <p:txBody>
          <a:bodyPr>
            <a:normAutofit/>
          </a:bodyPr>
          <a:lstStyle/>
          <a:p>
            <a:pPr algn="l" fontAlgn="base"/>
            <a:r>
              <a:rPr lang="en-US" b="0" i="0" dirty="0">
                <a:effectLst/>
                <a:latin typeface="inherit"/>
              </a:rPr>
              <a:t>These are errors introduced due to human imperfections or mistakes.</a:t>
            </a:r>
            <a:endParaRPr lang="en-US" b="0" i="0" dirty="0">
              <a:effectLst/>
              <a:latin typeface="Verdana" panose="020B0604030504040204" pitchFamily="34" charset="0"/>
            </a:endParaRPr>
          </a:p>
          <a:p>
            <a:pPr algn="l" fontAlgn="base"/>
            <a:r>
              <a:rPr lang="en-US" b="0" i="0" dirty="0">
                <a:effectLst/>
                <a:latin typeface="inherit"/>
              </a:rPr>
              <a:t>Human errors can occur at any stage of the problem solving cycle. Some common types of errors are :</a:t>
            </a:r>
            <a:endParaRPr lang="en-US" b="0" i="0" dirty="0">
              <a:effectLst/>
              <a:latin typeface="Verdana" panose="020B060403050404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herit"/>
              </a:rPr>
              <a:t>Lack of understanding of the problem (physical system)</a:t>
            </a:r>
            <a:endParaRPr lang="en-US" b="0" i="0" dirty="0">
              <a:effectLst/>
              <a:latin typeface="Open Sans" panose="020B0606030504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herit"/>
              </a:rPr>
              <a:t>Overlooking of some basic assumptions required for formulating the model or making wrong assumptions (Modelling Error)</a:t>
            </a:r>
            <a:endParaRPr lang="en-US" b="0" i="0" dirty="0">
              <a:effectLst/>
              <a:latin typeface="Open Sans" panose="020B0606030504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herit"/>
              </a:rPr>
              <a:t>Errors in deriving the mathematical equation or using a model that does not describe adequately the physical system under study (Modelling error)</a:t>
            </a:r>
            <a:endParaRPr lang="en-US" b="0" i="0" dirty="0">
              <a:effectLst/>
              <a:latin typeface="Open Sans" panose="020B0606030504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herit"/>
              </a:rPr>
              <a:t>Selecting a wrong numerical method for solving a mathematical model.</a:t>
            </a:r>
            <a:endParaRPr lang="en-US" b="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207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C87B0-B568-4E8B-9EA3-74E5C3FBD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Human Errors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31A85-7525-4EAF-92CD-40538D0D1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0" i="0" dirty="0">
                <a:effectLst/>
                <a:latin typeface="inherit"/>
              </a:rPr>
              <a:t>Selecting a wrong algorithm for implementing a numerical method.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herit"/>
              </a:rPr>
              <a:t>Programming mistakes</a:t>
            </a:r>
            <a:endParaRPr lang="en-US" b="0" i="0" dirty="0">
              <a:effectLst/>
              <a:latin typeface="Open Sans" panose="020B0606030504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herit"/>
              </a:rPr>
              <a:t>Mistakes in Data input such as misprints, giving values column-wise instead of a row wise to a matrix , forgetting a negative </a:t>
            </a:r>
            <a:r>
              <a:rPr lang="en-US" b="0" i="0" dirty="0" err="1">
                <a:effectLst/>
                <a:latin typeface="inherit"/>
              </a:rPr>
              <a:t>sign,etc</a:t>
            </a:r>
            <a:r>
              <a:rPr lang="en-US" b="0" i="0" dirty="0">
                <a:effectLst/>
                <a:latin typeface="inherit"/>
              </a:rPr>
              <a:t>.</a:t>
            </a:r>
            <a:endParaRPr lang="en-US" b="0" i="0" dirty="0">
              <a:effectLst/>
              <a:latin typeface="Open Sans" panose="020B0606030504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herit"/>
              </a:rPr>
              <a:t>Wrong guess of initial values</a:t>
            </a:r>
            <a:endParaRPr lang="en-US" b="0" i="0" dirty="0">
              <a:effectLst/>
              <a:latin typeface="Open Sans" panose="020B0606030504020204" pitchFamily="34" charset="0"/>
            </a:endParaRPr>
          </a:p>
          <a:p>
            <a:pPr algn="l" fontAlgn="base"/>
            <a:r>
              <a:rPr lang="en-US" b="0" i="0" dirty="0">
                <a:effectLst/>
                <a:latin typeface="inherit"/>
              </a:rPr>
              <a:t>All these mistakes can be avoided through a reasonable understanding of the problem and the numerical solution method, use of good programming techniques and tools, effective code reviews and testing.</a:t>
            </a:r>
            <a:endParaRPr lang="en-US" b="0" i="0" dirty="0">
              <a:effectLst/>
              <a:latin typeface="Verdan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323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7B730-92BE-457C-B615-6F1BD7B4E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Excercise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2EE8C5-F0D7-44B4-8DD2-9697C4EB00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as Taylor series and truncate it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-terms. Compute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3,5,7</m:t>
                        </m:r>
                      </m:e>
                    </m:d>
                  </m:oMath>
                </a14:m>
                <a:r>
                  <a:rPr lang="en-US" dirty="0"/>
                  <a:t> and compare the results found by using the built-in function (assuming it to be exact).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 rectangle of sides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=2.34±0.006,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=6.381±0.0003</m:t>
                    </m:r>
                  </m:oMath>
                </a14:m>
                <a:r>
                  <a:rPr lang="en-US" dirty="0"/>
                  <a:t> is given. Find its area along with the corresponding estimated error.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2EE8C5-F0D7-44B4-8DD2-9697C4EB00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2311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50.7312"/>
  <p:tag name="ORIGINALWIDTH" val="2057.743"/>
  <p:tag name="LATEXADDIN" val="\documentclass{article}&#10;\usepackage{amsmath,amsfonts,amssymb,xcolor,mathptmx}&#10;\usepackage{times}&#10;\usepackage{mathptmx}&#10;\pagestyle{empty}&#10;\begin{document}&#10;for some constant $M &gt; 0$&#10;\end{document}"/>
  <p:tag name="IGUANATEXSIZE" val="28"/>
  <p:tag name="IGUANATEXCURSOR" val="17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90.4387"/>
  <p:tag name="ORIGINALWIDTH" val="1735.283"/>
  <p:tag name="LATEXADDIN" val="\documentclass{article}&#10;\usepackage{amsmath,amsfonts,amssymb,xcolor,mathptmx}&#10;\usepackage{times}&#10;\usepackage{mathptmx}&#10;\pagestyle{empty}&#10;\begin{document}&#10;$$&#10;\lim_{n \rightarrow \infty} \frac{|x_{n+1}-x_0|}{|x_n-x_0|^q} &lt; M&#10;$$&#10;\end{document}"/>
  <p:tag name="IGUANATEXSIZE" val="44"/>
  <p:tag name="IGUANATEXCURSOR" val="21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97.9377"/>
  <p:tag name="ORIGINALWIDTH" val="1340.083"/>
  <p:tag name="LATEXADDIN" val="\documentclass{article}&#10;\usepackage{amsmath,amsfonts,amssymb,xcolor,mathptmx}&#10;\usepackage{times}&#10;\usepackage{mathptmx}&#10;\pagestyle{empty}&#10;\begin{document}&#10;$$&#10;q = \lim_{n \rightarrow \infty} \left[ \frac{\mu_{n+1}}{\mu_{n}} \right]&#10;$$&#10;\end{document}"/>
  <p:tag name="IGUANATEXSIZE" val="28"/>
  <p:tag name="IGUANATEXCURSOR" val="19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73.4533"/>
  <p:tag name="ORIGINALWIDTH" val="2233.971"/>
  <p:tag name="LATEXADDIN" val="\documentclass{article}&#10;\usepackage{amsmath,amsfonts,amssymb,xcolor,mathptmx}&#10;\usepackage{times}&#10;\usepackage{mathptmx}&#10;\pagestyle{empty}&#10;\begin{document}&#10;and&#10;$&#10;\mu_n = \log \left\{ |&#10;\frac{x_n-x_{n-1}}{x_{n-1}-x_{n-2}}&#10;| \right\}&#10;$&#10;&#10;\end{document}"/>
  <p:tag name="IGUANATEXSIZE" val="44"/>
  <p:tag name="IGUANATEXCURSOR" val="21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73.4533"/>
  <p:tag name="ORIGINALWIDTH" val="2344.207"/>
  <p:tag name="LATEXADDIN" val="\documentclass{article}&#10;\usepackage{amsmath,amsfonts,amssymb,xcolor,mathptmx}&#10;\usepackage{times}&#10;\usepackage{mathptmx}&#10;\pagestyle{empty}&#10;\begin{document}&#10;with &#10;$&#10;\mu_{n+1} = \log \left\{ |&#10;\frac{x_{n+1}-x_n}{x_n-x_{n-1}}&#10;| \right\}&#10;$&#10;&#10;\end{document}"/>
  <p:tag name="IGUANATEXSIZE" val="44"/>
  <p:tag name="IGUANATEXCURSOR" val="21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966</Words>
  <Application>Microsoft Office PowerPoint</Application>
  <PresentationFormat>Widescreen</PresentationFormat>
  <Paragraphs>125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9" baseType="lpstr">
      <vt:lpstr>Arial</vt:lpstr>
      <vt:lpstr>AvantGarde-Book</vt:lpstr>
      <vt:lpstr>Calibri</vt:lpstr>
      <vt:lpstr>Calibri Light</vt:lpstr>
      <vt:lpstr>Cambria Math</vt:lpstr>
      <vt:lpstr>helvetica neue</vt:lpstr>
      <vt:lpstr>inherit</vt:lpstr>
      <vt:lpstr>Open Sans</vt:lpstr>
      <vt:lpstr>Palatino-Bold</vt:lpstr>
      <vt:lpstr>Palatino-Italic</vt:lpstr>
      <vt:lpstr>Palatino-Roman</vt:lpstr>
      <vt:lpstr>Verdana</vt:lpstr>
      <vt:lpstr>Wingdings</vt:lpstr>
      <vt:lpstr>Office Theme</vt:lpstr>
      <vt:lpstr>Numbers and Error Analysis</vt:lpstr>
      <vt:lpstr> </vt:lpstr>
      <vt:lpstr>Basic FlowCharts…</vt:lpstr>
      <vt:lpstr>Storing numbers (x86 or 32bits)</vt:lpstr>
      <vt:lpstr> </vt:lpstr>
      <vt:lpstr>Errors  Types/Classes</vt:lpstr>
      <vt:lpstr>Continued…</vt:lpstr>
      <vt:lpstr>Modeling Errors (continued…)</vt:lpstr>
      <vt:lpstr>Inherent Errors / Input Errors </vt:lpstr>
      <vt:lpstr>Conversion Errors</vt:lpstr>
      <vt:lpstr>Continued…</vt:lpstr>
      <vt:lpstr>Continued…</vt:lpstr>
      <vt:lpstr>Round-off Error in a Single Step</vt:lpstr>
      <vt:lpstr>Continued…</vt:lpstr>
      <vt:lpstr>Algorithmic Error after ‘N’-Iterations  (Typical Behavior)</vt:lpstr>
      <vt:lpstr>Round-off Errors (Typical Behavior)</vt:lpstr>
      <vt:lpstr>Total Error:</vt:lpstr>
      <vt:lpstr>Total Error (typical case study)</vt:lpstr>
      <vt:lpstr>Residual Error</vt:lpstr>
      <vt:lpstr>Order of Convergence</vt:lpstr>
      <vt:lpstr>Practical method for estimation of ‘q′</vt:lpstr>
      <vt:lpstr>Broad Classification of Errors</vt:lpstr>
      <vt:lpstr>Human Errors</vt:lpstr>
      <vt:lpstr>Human Errors (Continued)</vt:lpstr>
      <vt:lpstr>Excercise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 and Error Analysis</dc:title>
  <dc:creator>k</dc:creator>
  <cp:lastModifiedBy>bsphy2241</cp:lastModifiedBy>
  <cp:revision>33</cp:revision>
  <dcterms:created xsi:type="dcterms:W3CDTF">2022-09-18T10:21:42Z</dcterms:created>
  <dcterms:modified xsi:type="dcterms:W3CDTF">2025-11-05T11:53:36Z</dcterms:modified>
</cp:coreProperties>
</file>